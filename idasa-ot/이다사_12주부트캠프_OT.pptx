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훅 · 신뢰" id="{a8dba1cb-bcd9-7568-3c54-a738a12d91fe}">
          <p14:sldIdLst>
            <p14:sldId id="256"/>
            <p14:sldId id="257"/>
            <p14:sldId id="258"/>
            <p14:sldId id="259"/>
            <p14:sldId id="260"/>
          </p14:sldIdLst>
        </p14:section>
        <p14:section name="문제 · 해법" id="{f2426473-1549-9606-b703-97f035720ca3}">
          <p14:sldIdLst>
            <p14:sldId id="261"/>
            <p14:sldId id="262"/>
            <p14:sldId id="263"/>
          </p14:sldIdLst>
        </p14:section>
        <p14:section name="커리큘럼" id="{71e14ba9-81fc-91aa-cc00-e3d8620f2c6e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구조 · 가격" id="{9d84ed86-0860-c88e-f0c6-c90aeaa2e77d}">
          <p14:sldIdLst>
            <p14:sldId id="270"/>
            <p14:sldId id="271"/>
            <p14:sldId id="272"/>
            <p14:sldId id="273"/>
            <p14:sldId id="274"/>
          </p14:sldIdLst>
        </p14:section>
        <p14:section name="고민 해소 · 신청" id="{6ade915e-4d11-b98a-a8f0-78eb2a7346bd}">
          <p14:sldIdLst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좋아하는 여자 앞에서만 이상하게 말이 많아지시나요?
소개팅에서 대화는 끊기지 않고 잘 이어간 것 같은데, 이상하게 두 번째 만남은 잡히지 않습니다.
집에 와서 다시 '소개팅 멘트', '애프터 신청 방법'을 검색하고 계시죠.
이 영상을 끝까지 보시면, 더 이상 멘트를 검색하지 않으셔도 됩니다.
왜 두 번째 만남이 안 잡히는지, 그리고 12주 동안 무엇을 바꾸면 되는지 지금부터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결과부터 보여드리겠습니다.
[실제 수치] 12주 안에 두 번째 만남을 직접 제안한 수강생이 00%입니다.
평가받는 순간 길게 해명하던 시간은 평균 00초에서 0초로 줄었습니다.
그리고 부트캠프 기간 중에 연애를 시작한 분이 00명입니다.
이분들, 멘트를 외운 게 아닙니다. 긴장하는 순간의 반응을 바꿨을 뿐입니다.
(※ 실제 확인된 숫자로 바꿔 읽으세요.)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말을 하는 제가 과연 믿을 만한 사람인지 궁금하시죠.
저는 [기간] 동안 [0,000]건이 넘는 소개팅·연애 고민을 1:1로 상담해 왔습니다.
말로 듣는 상담만 한 게 아닙니다. 실제로 대화를 해보게 하고, 녹화하고, 말투와 표정과 시선을 장면 단위로 다시 봤습니다. 그렇게 쌓인 녹화 복기만 [000]시간이 넘습니다.
[플랫폼·수상·출간 기록을 한 문장으로.]
그래서 저는 남자들이 어느 순간에 무너지는지, 정확히 알고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수강생들의 변화는 말이 아니라 영상으로 확인합니다.
부트캠프를 시작하는 날, 같은 질문으로 영상을 찍습니다. 그리고 6주차, 12주차에 똑같은 질문, 똑같은 조건으로 다시 찍습니다.
0주차에는 상대가 "그건 좀 별로인데요?" 한마디만 해도 40초 넘게 해명하던 분이,
6주차에는 2초 멈추고 자기 생각을 말하고,
12주차에는 웃으면서 "그럼 토요일에 같이 가요"라고 먼저 제안합니다.
(※ 동의받은 수강생 전후 캡처를 넣으세요. 결과는 실행에 따라 다릅니다.)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그리고 지금도 이런 메시지가 계속 옵니다.
"토요일에 같이 가자고 제가 먼저 말했어요. 예전 같으면 상상도 못 했을 거예요."
"처음으로 소개팅 끝나고 상대가 먼저 연락 왔습니다."
[실제 후기 2~3개를 그대로 읽으세요.]
저에게 오신 분들이 정말 변하지 않았다면, 이런 연락은 오지 않았겠죠.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이다사 12주 부트캠프는 제가 수많은 상담과 녹화 복기를 하며 쌓은 방법을 그대로 담은 1:1 훈련 과정입니다.
진단에서 내가 어디서 무너지는지 찾고,
12주 동안 1:1로 역할극하고 녹화하고 고치면서 그 반응을 바꾸고,
졸업한 뒤에도 실제 연애에서 평생 점검받습니다.
PDF 받고 영상만 보는 강의가 아닙니다. 직접 해보고, 고치는 부트캠프입니다.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수많은 분들을 상담하면서 깨달은 진실이 하나 있습니다.
연애가 서툰 사람일수록, 멘트를 더 외울 게 아니라 '반응'을 바꿔야 한다는 겁니다.
멘트 100개를 외워도, 마음에 드는 여자 앞에서 긴장하는 순간 전부 사라집니다.
하지만 평가받는 순간 2초 멈추고 내 기준을 말하는 반응 하나는, 한 번 몸에 익으면 어떤 상대 앞에서도 남습니다.
멘트 100개보다 반응 하나가 훨씬 쉽고, 훨씬 현실적입니다.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요즘 '이 멘트만 쓰면 된다', '카톡은 이렇게 보내라'는 강의와 영상이 정말 많습니다.
그런데 상대 반응이 대본과 조금만 달라져도, 다음 말이 막힙니다.
픽업이나 밀당 기술은 연기라서 오래 못 갑니다. 관계가 시작돼도 계속 불안합니다.
유튜브 꿀팁은 보는 순간엔 알 것 같지만, 막상 긴장하면 몸이 안 따라옵니다.
상대가 바뀌어도, 상황이 바뀌어도 남는 건 단 하나, 긴장한 순간에도 무너지지 않는 '내 태도'입니다.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이다사 12주 부트캠프는 준비 단계와 3단계로 진행됩니다.
준비 단계에서 진단을 받고 나만의 12주 계획을 세웁니다.
1단계 1~4주차는 나를 세우는 구간,
2단계 5~8주차는 끌어당기는 구간,
3단계 9~12주차는 실제 만남에서 쓰는 구간입니다.
하나씩 보여드리겠습니다.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준비 단계, 진단입니다.
90분 동안 AI 여성 영상과 실제 상황처럼 대화를 해봅니다. 첫 만남 장면, 두 번째 만남 장면을 직접 해보고 녹화합니다.
그리고 녹화된 장면을 같이 보면서 확인합니다. 말을 서두르는지, 시선이 빠지는지, 해명이 길어지는지.
진단이 끝나면 바꿀 것, 새로 만들 것, 지킬 것이 정리된 나만의 12주 계획을 받습니다.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1단계, 1~4주차는 나를 세우는 구간입니다.
진단에서 가장 많이 보이는 문제가 바로 이겁니다. 상대가 조금만 평가하는 말을 해도 길게 해명하는 습관.
1~2주차에는 일상에서 작은 부탁을 세 번 해보고, 3~4주차에는 선을 한 번 그어봅니다.
그리고 매일 1분, 자세와 시선, 2초 공백을 연습합니다.
[증거: 수강생 평균 해명 시간이 0주 00초에서 4주 00초로 줄었습니다.]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2단계, 5~8주차는 끌어당기는 구간입니다.
상대 반응에 끌려다니지 않고, 내 이야기로 대화를 잇습니다. 질문 하나, 내 이야기 하나.
호감을 숨기지 않고, 다음 만남을 먼저 제안합니다. "말한 그 집, 토요일에 같이 가요."
6주차에는 처음 찍은 영상과 같은 질문으로 다시 찍어서, 지금까지 무엇이 달라졌는지 직접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3단계, 9~12주차는 실전 구간입니다.
연애는 강의를 듣는 것만으로 바뀌지 않습니다. 그래서 실제 만남에서 써봐야 합니다.
데이트 코스를 직접 답사하고, 실제 만남을 하고, 그 장면을 1:1로 같이 복기합니다.
그리고 연애가 시작된 뒤에도 흔들리지 않도록, 나만의 관계 원칙 7문장을 만듭니다.
12주차에 0주, 6주, 12주 영상을 나란히 놓고 최종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정리하면, 이다사 12주 부트캠프는 진단부터 실제 연애가 시작될 때까지 A부터 Z까지 함께하는 과정입니다.
12주 뒤 여러분은 이 세 가지를 하게 됩니다.
원하는 걸 말합니다. 내 이야기로 대화를 잇습니다. 그리고 다음 만남을 먼저 제안합니다.
단언컨대, 내 녹화 영상을 장면 단위로 보면서 반응 자체를 고쳐주는 1:1 연애 훈련은 흔하지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여러분, 연애 강의를 듣기만 해서 바뀐다면, 강의를 가장 많이 들은 사람이 연애를 제일 잘했어야 합니다. 그렇죠?
대부분의 연애 강의는 영상을 보거나 단체로 수업을 듣고 끝납니다. 내 말투, 내 표정, 내 시선을 봐주는 사람은 없습니다.
그리고 4주, 8주 지나면 끝납니다.
그래서 이다사 12주 부트캠프는 무조건 1:1로만 진행합니다. 내 영상을 장면 단위로 보면서 고치고, 졸업한 뒤에도 평생 점검합니다.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부트캠프는 크게 두 구간으로 나뉩니다.
첫 번째 구간은 12주 집중 구간입니다. 1:1 90분 코칭 6회, 강의, 매일 루틴, 실전 과제로 반응을 바꿉니다.
이 집중 구간이 없으면, 대부분 아무것도 안 하고 흐지부지됩니다. 그래서 12주 안에 반드시 바꾸는 걸 목표로 달립니다.
두 번째 구간은 졸업 후 평생 회원 구간입니다.
진짜 연애는 12주 뒤에 시작됩니다. 썸이 생겼을 때, 연애가 시작됐을 때, 같은 문제로 다툴 때, 결혼을 고민할 때, 그때마다 돌아와서 점검받으시면 됩니다.
매달 사례 라이브, 게시판 주 1회 답변, 6개월 영상 점검, 1년 안 1:1 점검 1회가 포함됩니다.
[실제 사례 하나를 짧게: 연애 시작 후 고민이 생긴 수강생을 어떻게 도왔는지.]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가격은 화면에 보이는 그대로입니다.
12주 부트캠프는 117만 원, 12개월 할부로 한 달 약 9만 8천 원입니다.
부트캠프 + 평생 회원은 149만 원, 한 달 약 12만 4천 원입니다.
32만 원 차이로 졸업 뒤에도 라이브, 게시판 답변, 반년 점검, 1:1 점검이 평생 이어집니다.
모두 VAT 별도이고, 환불 규정은 결제 단계에서 안내드립니다.
혹시 가격을 보고 비싸다는 생각이 드셨나요?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아니요, 오히려 저렴합니다.
1:1로 꾸준히 도움을 받으려면 원래 비용이 듭니다. 예를 들어 회당 15만 원짜리 1:1 상담을 한 달에 4번, 1년 동안 받으면 48회, 720만 원입니다.
부트캠프 + 평생 회원은 149만 원, 그 5분의 1입니다.
(※ 회당 15만 원은 가정 예시이며 시장 평균이 아닙니다. 상담과 코칭은 목적이 다르고, 코칭은 정신건강 치료를 대체하지 않습니다.)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쉽게 말하면, 한 달 10만 원 정도로 1년 동안 내 연애 코치를 고용하는 겁니다.
117만 원을 12개월로 나누면 한 달 약 9만 8천 원. 1:1 상담 한 번 비용보다 적습니다.
소개팅 한 번 나가는 식사비, 카페값만 생각해도 비슷합니다.
그 돈으로 한 달 동안 내 반응을 보고 고쳐주는 사람이 생기는 겁니다.
혼자서 같은 실수를 반복하는 시간과 비용을 생각하면, 투자하지 않을 이유가 없습니다.
(12개월 할부 기준, VAT 별도, 할부 이자는 카드사 기준입니다.)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솔직하게 말씀드리겠습니다. 이런 분은 신청하지 마세요.
'한 방 멘트'만 알고 싶은 분. 저는 멘트를 팔지 않습니다.
2주에 과제 하나도 해볼 생각이 없는 분. 부트캠프는 듣기만 하는 강의가 아니라 직접 해보는 훈련입니다.
연애 결과를 보장받고 싶은 분. 저는 지킬 수 있는 것만 약속합니다.
대신, 녹화된 내 모습을 보는 게 불편해도 한번 바꿔보고 싶은 분이라면, 끝까지 함께하겠습니다.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지금쯤 신청하고는 싶은데, 이런 고민이 드실 거예요.
"저는 원래 말주변이 없는데요." 말을 잘하는 게 목표가 아닙니다. 긴장한 순간의 반응을 바꾸는 겁니다.
"나이가 많은데 될까요?" 태도는 나이와 상관없이, 12주 단위로 바뀝니다.
"연애 경험이 거의 없어요." 그래서 실전 전에 시뮬레이션으로 먼저 연습합니다.
"시간이 없어요." 주당 1~2시간이면 됩니다. 과제를 못 한 주에도 수업은 진행합니다.
걱정하지 마세요. 진단에서 지금의 나를 함께 보고, 할 수 있는 순서대로 계획을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 바로 90분 진단을 신청하세요.
진단비 [ ]원으로, 내가 어디서 흔들리는지 확인하고 나에게 딱 맞는 12주 계획을 받으실 수 있습니다.
그리고 진단 후, 제가 도와드릴 수 있다고 판단되고 서로 맞는 분께만 부트캠프 합류를 안내드립니다.
그러니 부담 갖지 마시고, 외운 멘트 없이 평소의 나로 편하게 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이미 많은 분들이 이다사에서 달라졌습니다. 그리고 그 시작은 모두 90분 진단이었습니다.
더 이상 새벽까지 소개팅 멘트를 검색하며 지치지 마세요.
이제는 내 모습 그대로, 다음 만남을 잡을 때입니다.
지금 바로 진단을 신청하세요.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이다사 12주 부트캠프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이다사 12주 부트캠프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589520" y="91440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182880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두 번째 만남,</a:t>
            </a:r>
            <a:endParaRPr lang="en-US" sz="6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왜 안 잡힐까요?</a:t>
            </a:r>
            <a:endParaRPr lang="en-US" sz="6000" dirty="0"/>
          </a:p>
        </p:txBody>
      </p:sp>
      <p:sp>
        <p:nvSpPr>
          <p:cNvPr id="5" name="Shape 1"/>
          <p:cNvSpPr/>
          <p:nvPr/>
        </p:nvSpPr>
        <p:spPr>
          <a:xfrm>
            <a:off x="731520" y="4480560"/>
            <a:ext cx="301752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731520" y="44805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이다사 12주 부트캠프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먼저 결과부터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멘트 없이 바꾼 결과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31520" y="2651760"/>
            <a:ext cx="3337560" cy="3017520"/>
          </a:xfrm>
          <a:prstGeom prst="roundRect">
            <a:avLst>
              <a:gd name="adj" fmla="val 424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097280" y="30175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00%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4389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먼저 제안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실제 수치로 교체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61688" y="2651760"/>
            <a:ext cx="3337560" cy="3017520"/>
          </a:xfrm>
          <a:prstGeom prst="roundRect">
            <a:avLst>
              <a:gd name="adj" fmla="val 424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727448" y="30175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−00초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4727448" y="4389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해명 시간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4727448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실제 수치로 교체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991856" y="2651760"/>
            <a:ext cx="3337560" cy="3017520"/>
          </a:xfrm>
          <a:prstGeom prst="roundRect">
            <a:avLst>
              <a:gd name="adj" fmla="val 424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57616" y="30175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00명</a:t>
            </a:r>
            <a:endParaRPr lang="en-US" sz="5400" dirty="0"/>
          </a:p>
        </p:txBody>
      </p:sp>
      <p:sp>
        <p:nvSpPr>
          <p:cNvPr id="15" name="Text 12"/>
          <p:cNvSpPr txBox="1"/>
          <p:nvPr/>
        </p:nvSpPr>
        <p:spPr>
          <a:xfrm>
            <a:off x="8357616" y="4389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연애 시작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8357616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실제 수치로 교체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저는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긴장한 순간만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봐 온 사람입니다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175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0,000건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794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1:1 상담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3891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000시간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166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녹화 복기</a:t>
            </a:r>
            <a:endParaRPr lang="en-US" sz="2000" dirty="0"/>
          </a:p>
        </p:txBody>
      </p:sp>
      <p:sp>
        <p:nvSpPr>
          <p:cNvPr id="9" name="교체용 슬롯"/>
          <p:cNvSpPr/>
          <p:nvPr/>
        </p:nvSpPr>
        <p:spPr>
          <a:xfrm>
            <a:off x="6858000" y="1188720"/>
            <a:ext cx="4572000" cy="4754880"/>
          </a:xfrm>
          <a:prstGeom prst="roundRect">
            <a:avLst>
              <a:gd name="adj" fmla="val 2400"/>
            </a:avLst>
          </a:prstGeom>
          <a:solidFill>
            <a:srgbClr val="E9EDF4"/>
          </a:solidFill>
          <a:ln w="15875">
            <a:solidFill>
              <a:srgbClr val="A9B3C6"/>
            </a:solidFill>
            <a:prstDash val="dash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92540" y="301752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995160" y="36393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프로필 · 상담 현장 사진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수강생들의 변화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영상이 증명합니다</a:t>
            </a:r>
            <a:endParaRPr lang="en-US" sz="4000" dirty="0"/>
          </a:p>
        </p:txBody>
      </p:sp>
      <p:sp>
        <p:nvSpPr>
          <p:cNvPr id="5" name="교체용 슬롯"/>
          <p:cNvSpPr/>
          <p:nvPr/>
        </p:nvSpPr>
        <p:spPr>
          <a:xfrm>
            <a:off x="731520" y="25146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E9EDF4"/>
          </a:solidFill>
          <a:ln w="15875">
            <a:solidFill>
              <a:srgbClr val="A9B3C6"/>
            </a:solidFill>
            <a:prstDash val="dash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329184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3913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수강생 영상 캡처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534924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0주</a:t>
            </a:r>
            <a:endParaRPr lang="en-US" sz="3000" dirty="0"/>
          </a:p>
        </p:txBody>
      </p:sp>
      <p:sp>
        <p:nvSpPr>
          <p:cNvPr id="9" name="교체용 슬롯"/>
          <p:cNvSpPr/>
          <p:nvPr/>
        </p:nvSpPr>
        <p:spPr>
          <a:xfrm>
            <a:off x="4361688" y="25146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E9EDF4"/>
          </a:solidFill>
          <a:ln w="15875">
            <a:solidFill>
              <a:srgbClr val="A9B3C6"/>
            </a:solidFill>
            <a:prstDash val="dash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8" y="329184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498848" y="3913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수강생 영상 캡처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361688" y="534924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6주</a:t>
            </a:r>
            <a:endParaRPr lang="en-US" sz="3000" dirty="0"/>
          </a:p>
        </p:txBody>
      </p:sp>
      <p:sp>
        <p:nvSpPr>
          <p:cNvPr id="13" name="교체용 슬롯"/>
          <p:cNvSpPr/>
          <p:nvPr/>
        </p:nvSpPr>
        <p:spPr>
          <a:xfrm>
            <a:off x="7991856" y="25146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E9EDF4"/>
          </a:solidFill>
          <a:ln w="15875">
            <a:solidFill>
              <a:srgbClr val="A9B3C6"/>
            </a:solidFill>
            <a:prstDash val="dash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76" y="329184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129016" y="3913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수강생 영상 캡처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7991856" y="534924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12주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지금도 오는 메시지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결과가 없었다면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오지 않았을 연락</a:t>
            </a:r>
            <a:endParaRPr lang="en-US" sz="4000" dirty="0"/>
          </a:p>
        </p:txBody>
      </p:sp>
      <p:sp>
        <p:nvSpPr>
          <p:cNvPr id="5" name="교체용 슬롯"/>
          <p:cNvSpPr/>
          <p:nvPr/>
        </p:nvSpPr>
        <p:spPr>
          <a:xfrm>
            <a:off x="731520" y="260604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E9EDF4"/>
          </a:solidFill>
          <a:ln w="15875">
            <a:solidFill>
              <a:srgbClr val="A9B3C6"/>
            </a:solidFill>
            <a:prstDash val="dash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37033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43251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후기 캡처</a:t>
            </a:r>
            <a:endParaRPr lang="en-US" sz="1200" dirty="0"/>
          </a:p>
        </p:txBody>
      </p:sp>
      <p:sp>
        <p:nvSpPr>
          <p:cNvPr id="8" name="교체용 슬롯"/>
          <p:cNvSpPr/>
          <p:nvPr/>
        </p:nvSpPr>
        <p:spPr>
          <a:xfrm>
            <a:off x="3456432" y="260604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E9EDF4"/>
          </a:solidFill>
          <a:ln w="15875">
            <a:solidFill>
              <a:srgbClr val="A9B3C6"/>
            </a:solidFill>
            <a:prstDash val="dash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272" y="3703320"/>
            <a:ext cx="502920" cy="5029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593592" y="43251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후기 캡처</a:t>
            </a:r>
            <a:endParaRPr lang="en-US" sz="1200" dirty="0"/>
          </a:p>
        </p:txBody>
      </p:sp>
      <p:sp>
        <p:nvSpPr>
          <p:cNvPr id="11" name="교체용 슬롯"/>
          <p:cNvSpPr/>
          <p:nvPr/>
        </p:nvSpPr>
        <p:spPr>
          <a:xfrm>
            <a:off x="6181344" y="260604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E9EDF4"/>
          </a:solidFill>
          <a:ln w="15875">
            <a:solidFill>
              <a:srgbClr val="A9B3C6"/>
            </a:solidFill>
            <a:prstDash val="dash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184" y="3703320"/>
            <a:ext cx="502920" cy="5029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318504" y="43251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후기 캡처</a:t>
            </a:r>
            <a:endParaRPr lang="en-US" sz="1200" dirty="0"/>
          </a:p>
        </p:txBody>
      </p:sp>
      <p:sp>
        <p:nvSpPr>
          <p:cNvPr id="14" name="교체용 슬롯"/>
          <p:cNvSpPr/>
          <p:nvPr/>
        </p:nvSpPr>
        <p:spPr>
          <a:xfrm>
            <a:off x="8906256" y="260604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E9EDF4"/>
          </a:solidFill>
          <a:ln w="15875">
            <a:solidFill>
              <a:srgbClr val="A9B3C6"/>
            </a:solidFill>
            <a:prstDash val="dash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2096" y="3703320"/>
            <a:ext cx="502920" cy="5029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043416" y="432511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후기 캡처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소개합니다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이다사 12주 부트캠프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31520" y="2743200"/>
            <a:ext cx="3337560" cy="2926080"/>
          </a:xfrm>
          <a:prstGeom prst="roundRect">
            <a:avLst>
              <a:gd name="adj" fmla="val 4375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828800" y="3154680"/>
            <a:ext cx="1143000" cy="1143000"/>
          </a:xfrm>
          <a:prstGeom prst="ellipse">
            <a:avLst/>
          </a:prstGeom>
          <a:solidFill>
            <a:srgbClr val="C9A24B"/>
          </a:solidFill>
          <a:ln/>
        </p:spPr>
      </p:sp>
      <p:pic>
        <p:nvPicPr>
          <p:cNvPr id="7" name="Image 0" descr="LuStethosco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5980" y="3451860"/>
            <a:ext cx="548640" cy="5486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457200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진단</a:t>
            </a:r>
            <a:endParaRPr lang="en-US" sz="2800" dirty="0"/>
          </a:p>
        </p:txBody>
      </p:sp>
      <p:sp>
        <p:nvSpPr>
          <p:cNvPr id="9" name="Shape 5"/>
          <p:cNvSpPr/>
          <p:nvPr/>
        </p:nvSpPr>
        <p:spPr>
          <a:xfrm>
            <a:off x="4361688" y="2743200"/>
            <a:ext cx="3337560" cy="2926080"/>
          </a:xfrm>
          <a:prstGeom prst="roundRect">
            <a:avLst>
              <a:gd name="adj" fmla="val 4375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58968" y="3154680"/>
            <a:ext cx="1143000" cy="1143000"/>
          </a:xfrm>
          <a:prstGeom prst="ellipse">
            <a:avLst/>
          </a:prstGeom>
          <a:solidFill>
            <a:srgbClr val="C9A24B"/>
          </a:solidFill>
          <a:ln/>
        </p:spPr>
      </p:sp>
      <p:pic>
        <p:nvPicPr>
          <p:cNvPr id="11" name="Image 1" descr="LuUse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148" y="3451860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361688" y="457200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1:1 훈련</a:t>
            </a:r>
            <a:endParaRPr lang="en-US" sz="2800" dirty="0"/>
          </a:p>
        </p:txBody>
      </p:sp>
      <p:sp>
        <p:nvSpPr>
          <p:cNvPr id="13" name="Shape 8"/>
          <p:cNvSpPr/>
          <p:nvPr/>
        </p:nvSpPr>
        <p:spPr>
          <a:xfrm>
            <a:off x="7991856" y="2743200"/>
            <a:ext cx="3337560" cy="2926080"/>
          </a:xfrm>
          <a:prstGeom prst="roundRect">
            <a:avLst>
              <a:gd name="adj" fmla="val 4375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9089136" y="3154680"/>
            <a:ext cx="1143000" cy="1143000"/>
          </a:xfrm>
          <a:prstGeom prst="ellipse">
            <a:avLst/>
          </a:prstGeom>
          <a:solidFill>
            <a:srgbClr val="C9A24B"/>
          </a:solidFill>
          <a:ln/>
        </p:spPr>
      </p:sp>
      <p:pic>
        <p:nvPicPr>
          <p:cNvPr id="15" name="Image 2" descr="LuInfin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6316" y="3451860"/>
            <a:ext cx="548640" cy="5486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991856" y="457200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평생 점검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수많은 상담 끝에 깨달은 진실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멘트가 아니라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반응을 바꿔야 합니다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31520" y="3291840"/>
            <a:ext cx="5120640" cy="2194560"/>
          </a:xfrm>
          <a:prstGeom prst="roundRect">
            <a:avLst>
              <a:gd name="adj" fmla="val 58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329184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멘트 100개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3291840"/>
            <a:ext cx="457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&lt;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6309360" y="3291840"/>
            <a:ext cx="5120640" cy="2194560"/>
          </a:xfrm>
          <a:prstGeom prst="roundRect">
            <a:avLst>
              <a:gd name="adj" fmla="val 5833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309360" y="329184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반응 1개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요즘 넘쳐나는 연애 강의들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외운 멘트는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긴장하면 사라집니다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31520" y="2926080"/>
            <a:ext cx="3337560" cy="2651760"/>
          </a:xfrm>
          <a:prstGeom prst="roundRect">
            <a:avLst>
              <a:gd name="adj" fmla="val 482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97280" y="3291840"/>
            <a:ext cx="914400" cy="914400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7" name="Image 0" descr="LuMessageSquare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3529584"/>
            <a:ext cx="438912" cy="438912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3383280"/>
            <a:ext cx="548640" cy="5486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0" y="44805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멘트 모음</a:t>
            </a:r>
            <a:endParaRPr lang="en-US" sz="2600" dirty="0"/>
          </a:p>
        </p:txBody>
      </p:sp>
      <p:sp>
        <p:nvSpPr>
          <p:cNvPr id="10" name="Shape 5"/>
          <p:cNvSpPr/>
          <p:nvPr/>
        </p:nvSpPr>
        <p:spPr>
          <a:xfrm>
            <a:off x="4361688" y="2926080"/>
            <a:ext cx="3337560" cy="2651760"/>
          </a:xfrm>
          <a:prstGeom prst="roundRect">
            <a:avLst>
              <a:gd name="adj" fmla="val 482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4727448" y="3291840"/>
            <a:ext cx="914400" cy="914400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12" name="Image 2" descr="LuFla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3529584"/>
            <a:ext cx="438912" cy="438912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3383280"/>
            <a:ext cx="548640" cy="5486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727448" y="44805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픽업 기술</a:t>
            </a:r>
            <a:endParaRPr lang="en-US" sz="2600" dirty="0"/>
          </a:p>
        </p:txBody>
      </p:sp>
      <p:sp>
        <p:nvSpPr>
          <p:cNvPr id="15" name="Shape 8"/>
          <p:cNvSpPr/>
          <p:nvPr/>
        </p:nvSpPr>
        <p:spPr>
          <a:xfrm>
            <a:off x="7991856" y="2926080"/>
            <a:ext cx="3337560" cy="2651760"/>
          </a:xfrm>
          <a:prstGeom prst="roundRect">
            <a:avLst>
              <a:gd name="adj" fmla="val 482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6" name="Shape 9"/>
          <p:cNvSpPr/>
          <p:nvPr/>
        </p:nvSpPr>
        <p:spPr>
          <a:xfrm>
            <a:off x="8357616" y="3291840"/>
            <a:ext cx="914400" cy="914400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17" name="Image 4" descr="LuYoutub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3529584"/>
            <a:ext cx="438912" cy="438912"/>
          </a:xfrm>
          <a:prstGeom prst="rect">
            <a:avLst/>
          </a:prstGeom>
        </p:spPr>
      </p:pic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5016" y="3383280"/>
            <a:ext cx="548640" cy="54864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8357616" y="44805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유튜브 꿀팁</a:t>
            </a:r>
            <a:endParaRPr lang="en-US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12주 프로세스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준비 + 3단계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31520" y="2651760"/>
            <a:ext cx="2514600" cy="3108960"/>
          </a:xfrm>
          <a:prstGeom prst="roundRect">
            <a:avLst>
              <a:gd name="adj" fmla="val 5091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3017520"/>
            <a:ext cx="868680" cy="868680"/>
          </a:xfrm>
          <a:prstGeom prst="ellipse">
            <a:avLst/>
          </a:prstGeom>
          <a:solidFill>
            <a:srgbClr val="C9A24B"/>
          </a:solidFill>
          <a:ln/>
        </p:spPr>
      </p:sp>
      <p:pic>
        <p:nvPicPr>
          <p:cNvPr id="7" name="Image 0" descr="LuStethosco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7417" y="3243377"/>
            <a:ext cx="416966" cy="41696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준비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051560" y="45262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진단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3456432" y="2651760"/>
            <a:ext cx="2514600" cy="3108960"/>
          </a:xfrm>
          <a:prstGeom prst="roundRect">
            <a:avLst>
              <a:gd name="adj" fmla="val 5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776472" y="3017520"/>
            <a:ext cx="868680" cy="868680"/>
          </a:xfrm>
          <a:prstGeom prst="ellipse">
            <a:avLst/>
          </a:prstGeom>
          <a:solidFill>
            <a:srgbClr val="142340"/>
          </a:solidFill>
          <a:ln/>
        </p:spPr>
      </p:sp>
      <p:pic>
        <p:nvPicPr>
          <p:cNvPr id="12" name="Image 1" descr="LuAnch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2329" y="3243377"/>
            <a:ext cx="416966" cy="41696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776472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3776472" y="45262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나를 세운다</a:t>
            </a:r>
            <a:endParaRPr lang="en-US" sz="2400" dirty="0"/>
          </a:p>
        </p:txBody>
      </p:sp>
      <p:sp>
        <p:nvSpPr>
          <p:cNvPr id="15" name="Shape 10"/>
          <p:cNvSpPr/>
          <p:nvPr/>
        </p:nvSpPr>
        <p:spPr>
          <a:xfrm>
            <a:off x="6181344" y="2651760"/>
            <a:ext cx="2514600" cy="3108960"/>
          </a:xfrm>
          <a:prstGeom prst="roundRect">
            <a:avLst>
              <a:gd name="adj" fmla="val 5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501384" y="3017520"/>
            <a:ext cx="868680" cy="868680"/>
          </a:xfrm>
          <a:prstGeom prst="ellipse">
            <a:avLst/>
          </a:prstGeom>
          <a:solidFill>
            <a:srgbClr val="142340"/>
          </a:solidFill>
          <a:ln/>
        </p:spPr>
      </p:sp>
      <p:pic>
        <p:nvPicPr>
          <p:cNvPr id="17" name="Image 2" descr="LuMagn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7241" y="3243377"/>
            <a:ext cx="416966" cy="41696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501384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501384" y="45262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끌어당긴다</a:t>
            </a:r>
            <a:endParaRPr lang="en-US" sz="2400" dirty="0"/>
          </a:p>
        </p:txBody>
      </p:sp>
      <p:sp>
        <p:nvSpPr>
          <p:cNvPr id="20" name="Shape 14"/>
          <p:cNvSpPr/>
          <p:nvPr/>
        </p:nvSpPr>
        <p:spPr>
          <a:xfrm>
            <a:off x="8906256" y="2651760"/>
            <a:ext cx="2514600" cy="3108960"/>
          </a:xfrm>
          <a:prstGeom prst="roundRect">
            <a:avLst>
              <a:gd name="adj" fmla="val 5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226296" y="3017520"/>
            <a:ext cx="868680" cy="868680"/>
          </a:xfrm>
          <a:prstGeom prst="ellipse">
            <a:avLst/>
          </a:prstGeom>
          <a:solidFill>
            <a:srgbClr val="142340"/>
          </a:solidFill>
          <a:ln/>
        </p:spPr>
      </p:sp>
      <p:pic>
        <p:nvPicPr>
          <p:cNvPr id="22" name="Image 3" descr="LuCoff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2153" y="3243377"/>
            <a:ext cx="416966" cy="41696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226296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226296" y="45262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실전에서 쓴다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640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12주 프로세스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11480" y="146304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C9A24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46304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준비 · 진단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11480" y="224028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23365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224028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1단계 · 나를 세운다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11480" y="301752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23365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301752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2단계 · 끌어당긴다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11480" y="379476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23365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379476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3단계 · 실전에서 쓴다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0" y="1188720"/>
            <a:ext cx="1188720" cy="1188720"/>
          </a:xfrm>
          <a:prstGeom prst="ellipse">
            <a:avLst/>
          </a:prstGeom>
          <a:solidFill>
            <a:srgbClr val="142340"/>
          </a:solidFill>
          <a:ln/>
        </p:spPr>
      </p:sp>
      <p:pic>
        <p:nvPicPr>
          <p:cNvPr id="14" name="Image 0" descr="LuStethosco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1067" y="1497787"/>
            <a:ext cx="570586" cy="57058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0" y="2743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진단</a:t>
            </a:r>
            <a:endParaRPr lang="en-US" sz="44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84048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90분 동안,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내가 어디서 무너지는지 찾습니다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434340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이다사 12주 부트캠프</a:t>
            </a:r>
            <a:endParaRPr lang="en-US" sz="1000" dirty="0"/>
          </a:p>
        </p:txBody>
      </p:sp>
      <p:sp>
        <p:nvSpPr>
          <p:cNvPr id="18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19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640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12주 프로세스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11480" y="146304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23365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46304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준비 · 진단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11480" y="224028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C9A24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224028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1단계 · 나를 세운다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11480" y="301752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23365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301752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2단계 · 끌어당긴다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11480" y="379476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23365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379476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3단계 · 실전에서 쓴다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0" y="1188720"/>
            <a:ext cx="1188720" cy="1188720"/>
          </a:xfrm>
          <a:prstGeom prst="ellipse">
            <a:avLst/>
          </a:prstGeom>
          <a:solidFill>
            <a:srgbClr val="142340"/>
          </a:solidFill>
          <a:ln/>
        </p:spPr>
      </p:sp>
      <p:pic>
        <p:nvPicPr>
          <p:cNvPr id="14" name="Image 0" descr="LuAnch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1067" y="1497787"/>
            <a:ext cx="570586" cy="57058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0" y="2743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나를 세운다</a:t>
            </a:r>
            <a:endParaRPr lang="en-US" sz="44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84048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평가받아도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해명하지 않습니다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434340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이다사 12주 부트캠프</a:t>
            </a:r>
            <a:endParaRPr lang="en-US" sz="1000" dirty="0"/>
          </a:p>
        </p:txBody>
      </p:sp>
      <p:sp>
        <p:nvSpPr>
          <p:cNvPr id="18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19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640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12주 프로세스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11480" y="146304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23365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46304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준비 · 진단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11480" y="224028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23365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224028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1단계 · 나를 세운다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11480" y="301752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C9A24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301752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2단계 · 끌어당긴다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11480" y="379476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23365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379476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3단계 · 실전에서 쓴다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0" y="1188720"/>
            <a:ext cx="1188720" cy="1188720"/>
          </a:xfrm>
          <a:prstGeom prst="ellipse">
            <a:avLst/>
          </a:prstGeom>
          <a:solidFill>
            <a:srgbClr val="142340"/>
          </a:solidFill>
          <a:ln/>
        </p:spPr>
      </p:sp>
      <p:pic>
        <p:nvPicPr>
          <p:cNvPr id="14" name="Image 0" descr="LuMagn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1067" y="1497787"/>
            <a:ext cx="570586" cy="57058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0" y="2743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끌어당긴다</a:t>
            </a:r>
            <a:endParaRPr lang="en-US" sz="44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84048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끌려다니지 않고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먼저 제안합니다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434340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이다사 12주 부트캠프</a:t>
            </a:r>
            <a:endParaRPr lang="en-US" sz="1000" dirty="0"/>
          </a:p>
        </p:txBody>
      </p:sp>
      <p:sp>
        <p:nvSpPr>
          <p:cNvPr id="18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19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640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12주 프로세스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11480" y="146304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23365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46304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준비 · 진단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11480" y="224028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23365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224028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1단계 · 나를 세운다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11480" y="301752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23365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301752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2단계 · 끌어당긴다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11480" y="3794760"/>
            <a:ext cx="3017520" cy="585216"/>
          </a:xfrm>
          <a:prstGeom prst="roundRect">
            <a:avLst>
              <a:gd name="adj" fmla="val 15625"/>
            </a:avLst>
          </a:prstGeom>
          <a:solidFill>
            <a:srgbClr val="C9A24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379476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3단계 · 실전에서 쓴다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0" y="1188720"/>
            <a:ext cx="1188720" cy="1188720"/>
          </a:xfrm>
          <a:prstGeom prst="ellipse">
            <a:avLst/>
          </a:prstGeom>
          <a:solidFill>
            <a:srgbClr val="142340"/>
          </a:solidFill>
          <a:ln/>
        </p:spPr>
      </p:sp>
      <p:pic>
        <p:nvPicPr>
          <p:cNvPr id="14" name="Image 0" descr="LuCoff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1067" y="1497787"/>
            <a:ext cx="570586" cy="57058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0" y="2743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실전에서 쓴다</a:t>
            </a:r>
            <a:endParaRPr lang="en-US" sz="44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84048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실제 만남에서 쓰고,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연애 안에서도 나를 지킵니다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434340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이다사 12주 부트캠프</a:t>
            </a:r>
            <a:endParaRPr lang="en-US" sz="1000" dirty="0"/>
          </a:p>
        </p:txBody>
      </p:sp>
      <p:sp>
        <p:nvSpPr>
          <p:cNvPr id="18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19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정리하면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12주 뒤,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이 세 가지를 합니다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31520" y="3017520"/>
            <a:ext cx="3337560" cy="2377440"/>
          </a:xfrm>
          <a:prstGeom prst="roundRect">
            <a:avLst>
              <a:gd name="adj" fmla="val 5385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97280" y="3383280"/>
            <a:ext cx="822960" cy="822960"/>
          </a:xfrm>
          <a:prstGeom prst="ellipse">
            <a:avLst/>
          </a:prstGeom>
          <a:solidFill>
            <a:srgbClr val="C9A24B"/>
          </a:solidFill>
          <a:ln/>
        </p:spPr>
      </p:sp>
      <p:pic>
        <p:nvPicPr>
          <p:cNvPr id="7" name="Image 0" descr="Lu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1250" y="3597250"/>
            <a:ext cx="395021" cy="39502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4434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원하는 걸 말한다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4361688" y="3017520"/>
            <a:ext cx="3337560" cy="2377440"/>
          </a:xfrm>
          <a:prstGeom prst="roundRect">
            <a:avLst>
              <a:gd name="adj" fmla="val 5385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727448" y="3383280"/>
            <a:ext cx="822960" cy="822960"/>
          </a:xfrm>
          <a:prstGeom prst="ellipse">
            <a:avLst/>
          </a:prstGeom>
          <a:solidFill>
            <a:srgbClr val="C9A24B"/>
          </a:solidFill>
          <a:ln/>
        </p:spPr>
      </p:sp>
      <p:pic>
        <p:nvPicPr>
          <p:cNvPr id="11" name="Image 1" descr="Lu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418" y="3597250"/>
            <a:ext cx="395021" cy="39502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727448" y="4434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대화를 잇는다</a:t>
            </a:r>
            <a:endParaRPr lang="en-US" sz="2400" dirty="0"/>
          </a:p>
        </p:txBody>
      </p:sp>
      <p:sp>
        <p:nvSpPr>
          <p:cNvPr id="13" name="Shape 8"/>
          <p:cNvSpPr/>
          <p:nvPr/>
        </p:nvSpPr>
        <p:spPr>
          <a:xfrm>
            <a:off x="7991856" y="3017520"/>
            <a:ext cx="3337560" cy="2377440"/>
          </a:xfrm>
          <a:prstGeom prst="roundRect">
            <a:avLst>
              <a:gd name="adj" fmla="val 5385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57616" y="3383280"/>
            <a:ext cx="822960" cy="822960"/>
          </a:xfrm>
          <a:prstGeom prst="ellipse">
            <a:avLst/>
          </a:prstGeom>
          <a:solidFill>
            <a:srgbClr val="C9A24B"/>
          </a:solidFill>
          <a:ln/>
        </p:spPr>
      </p:sp>
      <p:pic>
        <p:nvPicPr>
          <p:cNvPr id="15" name="Image 2" descr="Lu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86" y="3597250"/>
            <a:ext cx="395021" cy="3950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357616" y="4434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먼저 제안한다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다른 연애 강의와 다른 점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무조건 1:1로만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31520" y="2743200"/>
            <a:ext cx="5120640" cy="3017520"/>
          </a:xfrm>
          <a:prstGeom prst="roundRect">
            <a:avLst>
              <a:gd name="adj" fmla="val 424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97280" y="3108960"/>
            <a:ext cx="868680" cy="868680"/>
          </a:xfrm>
          <a:prstGeom prst="ellipse">
            <a:avLst/>
          </a:prstGeom>
          <a:solidFill>
            <a:srgbClr val="F4F6FA"/>
          </a:solidFill>
          <a:ln/>
        </p:spPr>
      </p:sp>
      <p:pic>
        <p:nvPicPr>
          <p:cNvPr id="7" name="Image 0" descr="Lu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3137" y="3334817"/>
            <a:ext cx="416966" cy="41696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420624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듣는 강의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1097280" y="48920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VOD · 단체 · 4~8주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309360" y="2743200"/>
            <a:ext cx="5120640" cy="3017520"/>
          </a:xfrm>
          <a:prstGeom prst="roundRect">
            <a:avLst>
              <a:gd name="adj" fmla="val 424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675120" y="3108960"/>
            <a:ext cx="868680" cy="868680"/>
          </a:xfrm>
          <a:prstGeom prst="ellipse">
            <a:avLst/>
          </a:prstGeom>
          <a:solidFill>
            <a:srgbClr val="C9A24B"/>
          </a:solidFill>
          <a:ln/>
        </p:spPr>
      </p:sp>
      <p:pic>
        <p:nvPicPr>
          <p:cNvPr id="12" name="Image 1" descr="LuUse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977" y="3334817"/>
            <a:ext cx="416966" cy="41696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675120" y="420624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1:1 교정</a:t>
            </a:r>
            <a:endParaRPr lang="en-US" sz="3000" dirty="0"/>
          </a:p>
        </p:txBody>
      </p:sp>
      <p:sp>
        <p:nvSpPr>
          <p:cNvPr id="14" name="Text 9"/>
          <p:cNvSpPr txBox="1"/>
          <p:nvPr/>
        </p:nvSpPr>
        <p:spPr>
          <a:xfrm>
            <a:off x="6675120" y="48920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녹화 복기 · 12주 + 평생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두 구간으로 나뉩니다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연애는 12주 뒤에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진짜 시작됩니다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1097280" y="3063240"/>
            <a:ext cx="9966960" cy="0"/>
          </a:xfrm>
          <a:prstGeom prst="line">
            <a:avLst/>
          </a:prstGeom>
          <a:noFill/>
          <a:ln w="25400">
            <a:solidFill>
              <a:srgbClr val="B8C2D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05840" y="2907792"/>
            <a:ext cx="310896" cy="310896"/>
          </a:xfrm>
          <a:prstGeom prst="ellipse">
            <a:avLst/>
          </a:prstGeom>
          <a:solidFill>
            <a:srgbClr val="142340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3520440"/>
            <a:ext cx="5120640" cy="2286000"/>
          </a:xfrm>
          <a:prstGeom prst="roundRect">
            <a:avLst>
              <a:gd name="adj" fmla="val 56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1430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1구간 · 12주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43434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집중 부트캠프</a:t>
            </a:r>
            <a:endParaRPr lang="en-US" sz="3600" dirty="0"/>
          </a:p>
        </p:txBody>
      </p:sp>
      <p:sp>
        <p:nvSpPr>
          <p:cNvPr id="10" name="Shape 7"/>
          <p:cNvSpPr/>
          <p:nvPr/>
        </p:nvSpPr>
        <p:spPr>
          <a:xfrm>
            <a:off x="6583680" y="2907792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1" name="Shape 8"/>
          <p:cNvSpPr/>
          <p:nvPr/>
        </p:nvSpPr>
        <p:spPr>
          <a:xfrm>
            <a:off x="6309360" y="3520440"/>
            <a:ext cx="5120640" cy="2286000"/>
          </a:xfrm>
          <a:prstGeom prst="roundRect">
            <a:avLst>
              <a:gd name="adj" fmla="val 5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72084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2구간 · 졸업 후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720840" y="43434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평생 회원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가격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두 가지 중 하나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31520" y="2651760"/>
            <a:ext cx="5120640" cy="3108960"/>
          </a:xfrm>
          <a:prstGeom prst="roundRect">
            <a:avLst>
              <a:gd name="adj" fmla="val 411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188720" y="2971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12주 부트캠프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36576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117만 원</a:t>
            </a:r>
            <a:endParaRPr lang="en-US" sz="64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5029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VAT 별도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09360" y="2651760"/>
            <a:ext cx="5120640" cy="3108960"/>
          </a:xfrm>
          <a:prstGeom prst="roundRect">
            <a:avLst>
              <a:gd name="adj" fmla="val 41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012680" y="2926080"/>
            <a:ext cx="114300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012680" y="2926080"/>
            <a:ext cx="1143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추천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2971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부트캠프 + 평생 회원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36576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149만 원</a:t>
            </a:r>
            <a:endParaRPr lang="en-US" sz="64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5029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VAT 별도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비싼가요?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1년 상담의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5분의 1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17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1년 1:1 상담 (가정)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3840480" y="3017520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B8C2D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058400" y="3017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720만 원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3891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부트캠프 + 평생 회원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840480" y="4389120"/>
            <a:ext cx="1248918" cy="914400"/>
          </a:xfrm>
          <a:prstGeom prst="roundRect">
            <a:avLst>
              <a:gd name="adj" fmla="val 8000"/>
            </a:avLst>
          </a:prstGeom>
          <a:solidFill>
            <a:srgbClr val="C9A24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272278" y="4389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149만 원</a:t>
            </a:r>
            <a:endParaRPr lang="en-US" sz="3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쉽게 말하면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내 연애 코치를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고용하는 겁니다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9260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월 9.8만 원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에스코어 드림 4 Regular" pitchFamily="34" charset="0"/>
                <a:ea typeface="에스코어 드림 4 Regular" pitchFamily="34" charset="-122"/>
                <a:cs typeface="에스코어 드림 4 Regular" pitchFamily="34" charset="-120"/>
              </a:rPr>
              <a:t>12개월 할부 기준 · VAT 별도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솔직하게 말씀드립니다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이런 분은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신청하지 마세요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31520" y="3017520"/>
            <a:ext cx="3337560" cy="2468880"/>
          </a:xfrm>
          <a:prstGeom prst="roundRect">
            <a:avLst>
              <a:gd name="adj" fmla="val 518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97280" y="3383280"/>
            <a:ext cx="822960" cy="822960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7" name="Image 0" descr="Lu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1250" y="3597250"/>
            <a:ext cx="395021" cy="39502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4434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멘트만 원하는 분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4361688" y="3017520"/>
            <a:ext cx="3337560" cy="2468880"/>
          </a:xfrm>
          <a:prstGeom prst="roundRect">
            <a:avLst>
              <a:gd name="adj" fmla="val 518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727448" y="3383280"/>
            <a:ext cx="822960" cy="822960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11" name="Image 1" descr="LuB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418" y="3597250"/>
            <a:ext cx="395021" cy="39502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727448" y="4434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실행하지 않을 분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7991856" y="3017520"/>
            <a:ext cx="3337560" cy="2468880"/>
          </a:xfrm>
          <a:prstGeom prst="roundRect">
            <a:avLst>
              <a:gd name="adj" fmla="val 518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57616" y="3383280"/>
            <a:ext cx="822960" cy="822960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15" name="Image 2" descr="LuB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86" y="3597250"/>
            <a:ext cx="395021" cy="3950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357616" y="4434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결과 보장을 원하는 분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이런 고민 있으시죠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걱정하지 마세요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31520" y="2651760"/>
            <a:ext cx="5257800" cy="1371600"/>
          </a:xfrm>
          <a:prstGeom prst="roundRect">
            <a:avLst>
              <a:gd name="adj" fmla="val 9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2926080"/>
            <a:ext cx="822960" cy="822960"/>
          </a:xfrm>
          <a:prstGeom prst="ellipse">
            <a:avLst/>
          </a:prstGeom>
          <a:solidFill>
            <a:srgbClr val="F4F6FA"/>
          </a:solidFill>
          <a:ln/>
        </p:spPr>
      </p:sp>
      <p:pic>
        <p:nvPicPr>
          <p:cNvPr id="7" name="Image 0" descr="LuMessage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5530" y="3140050"/>
            <a:ext cx="395021" cy="39502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48840" y="26517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“말주변이 없어요”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6172200" y="2651760"/>
            <a:ext cx="5257800" cy="1371600"/>
          </a:xfrm>
          <a:prstGeom prst="roundRect">
            <a:avLst>
              <a:gd name="adj" fmla="val 9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492240" y="2926080"/>
            <a:ext cx="822960" cy="822960"/>
          </a:xfrm>
          <a:prstGeom prst="ellipse">
            <a:avLst/>
          </a:prstGeom>
          <a:solidFill>
            <a:srgbClr val="F4F6FA"/>
          </a:solidFill>
          <a:ln/>
        </p:spPr>
      </p:sp>
      <p:pic>
        <p:nvPicPr>
          <p:cNvPr id="11" name="Image 1" descr="LuMessageCir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6210" y="3140050"/>
            <a:ext cx="395021" cy="39502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589520" y="26517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“나이가 많아요”</a:t>
            </a:r>
            <a:endParaRPr lang="en-US" sz="2600" dirty="0"/>
          </a:p>
        </p:txBody>
      </p:sp>
      <p:sp>
        <p:nvSpPr>
          <p:cNvPr id="13" name="Shape 8"/>
          <p:cNvSpPr/>
          <p:nvPr/>
        </p:nvSpPr>
        <p:spPr>
          <a:xfrm>
            <a:off x="731520" y="4251960"/>
            <a:ext cx="5257800" cy="1371600"/>
          </a:xfrm>
          <a:prstGeom prst="roundRect">
            <a:avLst>
              <a:gd name="adj" fmla="val 9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1051560" y="4526280"/>
            <a:ext cx="822960" cy="822960"/>
          </a:xfrm>
          <a:prstGeom prst="ellipse">
            <a:avLst/>
          </a:prstGeom>
          <a:solidFill>
            <a:srgbClr val="F4F6FA"/>
          </a:solidFill>
          <a:ln/>
        </p:spPr>
      </p:sp>
      <p:pic>
        <p:nvPicPr>
          <p:cNvPr id="15" name="Image 2" descr="LuMessage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5530" y="4740250"/>
            <a:ext cx="395021" cy="3950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2148840" y="42519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“경험이 없어요”</a:t>
            </a:r>
            <a:endParaRPr lang="en-US" sz="2600" dirty="0"/>
          </a:p>
        </p:txBody>
      </p:sp>
      <p:sp>
        <p:nvSpPr>
          <p:cNvPr id="17" name="Shape 11"/>
          <p:cNvSpPr/>
          <p:nvPr/>
        </p:nvSpPr>
        <p:spPr>
          <a:xfrm>
            <a:off x="6172200" y="4251960"/>
            <a:ext cx="5257800" cy="1371600"/>
          </a:xfrm>
          <a:prstGeom prst="roundRect">
            <a:avLst>
              <a:gd name="adj" fmla="val 9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492240" y="4526280"/>
            <a:ext cx="822960" cy="822960"/>
          </a:xfrm>
          <a:prstGeom prst="ellipse">
            <a:avLst/>
          </a:prstGeom>
          <a:solidFill>
            <a:srgbClr val="F4F6FA"/>
          </a:solidFill>
          <a:ln/>
        </p:spPr>
      </p:sp>
      <p:pic>
        <p:nvPicPr>
          <p:cNvPr id="19" name="Image 3" descr="LuMessageCir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6210" y="4740250"/>
            <a:ext cx="395021" cy="39502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589520" y="42519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“시간이 없어요”</a:t>
            </a:r>
            <a:endParaRPr lang="en-US" sz="2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지금 바로</a:t>
            </a:r>
            <a:endParaRPr lang="en-US" sz="16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731520" y="914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90분 진단부터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31520" y="2743200"/>
            <a:ext cx="3337560" cy="2834640"/>
          </a:xfrm>
          <a:prstGeom prst="roundRect">
            <a:avLst>
              <a:gd name="adj" fmla="val 4516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97280" y="3108960"/>
            <a:ext cx="914400" cy="914400"/>
          </a:xfrm>
          <a:prstGeom prst="ellipse">
            <a:avLst/>
          </a:prstGeom>
          <a:solidFill>
            <a:srgbClr val="142340"/>
          </a:solidFill>
          <a:ln/>
        </p:spPr>
      </p:sp>
      <p:pic>
        <p:nvPicPr>
          <p:cNvPr id="7" name="Image 0" descr="LuCalendar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3346704"/>
            <a:ext cx="438912" cy="43891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926080" y="31546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5"/>
          <p:cNvSpPr txBox="1"/>
          <p:nvPr/>
        </p:nvSpPr>
        <p:spPr>
          <a:xfrm>
            <a:off x="1097280" y="4343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진단</a:t>
            </a:r>
            <a:endParaRPr lang="en-US" sz="3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3088" y="4023360"/>
            <a:ext cx="182880" cy="1828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61688" y="2743200"/>
            <a:ext cx="3337560" cy="2834640"/>
          </a:xfrm>
          <a:prstGeom prst="roundRect">
            <a:avLst>
              <a:gd name="adj" fmla="val 4516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4727448" y="3108960"/>
            <a:ext cx="914400" cy="914400"/>
          </a:xfrm>
          <a:prstGeom prst="ellipse">
            <a:avLst/>
          </a:prstGeom>
          <a:solidFill>
            <a:srgbClr val="C9A24B"/>
          </a:solidFill>
          <a:ln/>
        </p:spPr>
      </p:sp>
      <p:pic>
        <p:nvPicPr>
          <p:cNvPr id="13" name="Image 2" descr="Lu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3346704"/>
            <a:ext cx="438912" cy="43891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556248" y="31546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9"/>
          <p:cNvSpPr txBox="1"/>
          <p:nvPr/>
        </p:nvSpPr>
        <p:spPr>
          <a:xfrm>
            <a:off x="4727448" y="4343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12주 계획</a:t>
            </a:r>
            <a:endParaRPr lang="en-US" sz="3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3256" y="4023360"/>
            <a:ext cx="182880" cy="18288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7991856" y="2743200"/>
            <a:ext cx="3337560" cy="2834640"/>
          </a:xfrm>
          <a:prstGeom prst="roundRect">
            <a:avLst>
              <a:gd name="adj" fmla="val 4516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1E2A44">
                <a:alpha val="10000"/>
              </a:srgbClr>
            </a:outerShdw>
          </a:effectLst>
        </p:spPr>
      </p:sp>
      <p:sp>
        <p:nvSpPr>
          <p:cNvPr id="18" name="Shape 11"/>
          <p:cNvSpPr/>
          <p:nvPr/>
        </p:nvSpPr>
        <p:spPr>
          <a:xfrm>
            <a:off x="8357616" y="3108960"/>
            <a:ext cx="914400" cy="914400"/>
          </a:xfrm>
          <a:prstGeom prst="ellipse">
            <a:avLst/>
          </a:prstGeom>
          <a:solidFill>
            <a:srgbClr val="C9A24B"/>
          </a:solidFill>
          <a:ln/>
        </p:spPr>
      </p:sp>
      <p:pic>
        <p:nvPicPr>
          <p:cNvPr id="19" name="Image 4" descr="Lu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3346704"/>
            <a:ext cx="438912" cy="43891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186416" y="31546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03</a:t>
            </a:r>
            <a:endParaRPr lang="en-US" sz="2800" dirty="0"/>
          </a:p>
        </p:txBody>
      </p:sp>
      <p:sp>
        <p:nvSpPr>
          <p:cNvPr id="21" name="Text 13"/>
          <p:cNvSpPr txBox="1"/>
          <p:nvPr/>
        </p:nvSpPr>
        <p:spPr>
          <a:xfrm>
            <a:off x="8357616" y="4343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합류 결정</a:t>
            </a:r>
            <a:endParaRPr lang="en-US" sz="3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863840" y="1097280"/>
            <a:ext cx="4572000" cy="4572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182880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멘트 검색은</a:t>
            </a:r>
            <a:endParaRPr lang="en-US" sz="6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chemeClr val="bg1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이제 그만</a:t>
            </a:r>
            <a:endParaRPr lang="en-US" sz="6000" dirty="0"/>
          </a:p>
        </p:txBody>
      </p:sp>
      <p:sp>
        <p:nvSpPr>
          <p:cNvPr id="5" name="Shape 1"/>
          <p:cNvSpPr/>
          <p:nvPr/>
        </p:nvSpPr>
        <p:spPr>
          <a:xfrm>
            <a:off x="731520" y="4480560"/>
            <a:ext cx="4206240" cy="822960"/>
          </a:xfrm>
          <a:prstGeom prst="roundRect">
            <a:avLst>
              <a:gd name="adj" fmla="val 50000"/>
            </a:avLst>
          </a:prstGeom>
          <a:solidFill>
            <a:srgbClr val="C9A24B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731520" y="44805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에스코어 드림 6 Bold" pitchFamily="34" charset="0"/>
                <a:ea typeface="에스코어 드림 6 Bold" pitchFamily="34" charset="-122"/>
                <a:cs typeface="에스코어 드림 6 Bold" pitchFamily="34" charset="-120"/>
              </a:rPr>
              <a:t>90분 진단 신청하기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이다사 OT">
  <a:themeElements>
    <a:clrScheme name="이다사 OT">
      <a:dk1>
        <a:srgbClr val="0D182E"/>
      </a:dk1>
      <a:lt1>
        <a:srgbClr val="FFFFFF"/>
      </a:lt1>
      <a:dk2>
        <a:srgbClr val="142340"/>
      </a:dk2>
      <a:lt2>
        <a:srgbClr val="F4F6FA"/>
      </a:lt2>
      <a:accent1>
        <a:srgbClr val="C9A24B"/>
      </a:accent1>
      <a:accent2>
        <a:srgbClr val="23365E"/>
      </a:accent2>
      <a:accent3>
        <a:srgbClr val="D6453D"/>
      </a:accent3>
      <a:accent4>
        <a:srgbClr val="B8C2D4"/>
      </a:accent4>
      <a:accent5>
        <a:srgbClr val="586379"/>
      </a:accent5>
      <a:accent6>
        <a:srgbClr val="EBDDB3"/>
      </a:accent6>
      <a:hlink>
        <a:srgbClr val="23365E"/>
      </a:hlink>
      <a:folHlink>
        <a:srgbClr val="586379"/>
      </a:folHlink>
    </a:clrScheme>
    <a:fontScheme name="이다사 OT">
      <a:majorFont>
        <a:latin typeface="에스코어 드림 6 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에스코어 드림 4 Regu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이다사 12주 부트캠프 OT</dc:title>
  <dc:subject>PptxGenJS Presentation</dc:subject>
  <dc:creator>이다사</dc:creator>
  <cp:lastModifiedBy>이다사</cp:lastModifiedBy>
  <cp:revision>1</cp:revision>
  <dcterms:created xsi:type="dcterms:W3CDTF">2026-10-05T13:26:29Z</dcterms:created>
  <dcterms:modified xsi:type="dcterms:W3CDTF">2026-10-05T13:26:29Z</dcterms:modified>
</cp:coreProperties>
</file>